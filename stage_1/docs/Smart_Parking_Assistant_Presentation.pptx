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** Smart Parking RAG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Title Slide</a:t>
            </a:r>
          </a:p>
          <a:p>
            <a:r>
              <a:t>** An Intelligent Solution for Urban Parking Management</a:t>
            </a:r>
          </a:p>
          <a:p>
            <a:r>
              <a:t>Presenter:** JetBrains AI (Junie)</a:t>
            </a:r>
          </a:p>
          <a:p>
            <a:r>
              <a:t>Facility:** Central Plaza Parking, Tbilisi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Customer Frustration: Difficulty finding accurate parking rules and pricing information.</a:t>
            </a:r>
          </a:p>
          <a:p>
            <a:pPr/>
            <a:r>
              <a:t>Manual Overhead: Human staff spending excessive time on repetitive booking tasks.</a:t>
            </a:r>
          </a:p>
          <a:p>
            <a:pPr/>
            <a:r>
              <a:t>Data Fragmentation: Information scattered between static brochures and dynamic availability records.</a:t>
            </a:r>
          </a:p>
          <a:p>
            <a:pPr/>
            <a:r>
              <a:t>Goal: Provide a 24/7 intelligent interface for all parking-related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Hybrid AI Assistant: Combines the flexibility of Generative AI with the reliability of SQL databases.</a:t>
            </a:r>
          </a:p>
          <a:p>
            <a:pPr/>
            <a:r>
              <a:t>Three-Pillar Approach:</a:t>
            </a:r>
          </a:p>
          <a:p>
            <a:pPr/>
            <a:r>
              <a:t>Informational: RAG pipeline for complex QA.</a:t>
            </a:r>
          </a:p>
          <a:p>
            <a:pPr/>
            <a:r>
              <a:t>Operational: SQLite-based deterministic booking.</a:t>
            </a:r>
          </a:p>
          <a:p>
            <a:pPr/>
            <a:r>
              <a:t>Security: Rule-based guardrails for data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[Visual: Flowchart showing User -&gt; Chatbot Engine]</a:t>
            </a:r>
          </a:p>
          <a:p>
            <a:pPr/>
            <a:r>
              <a:t>Engine Logic: Routes input to Guardrails, RAG Pipeline, or Database.</a:t>
            </a:r>
          </a:p>
          <a:p>
            <a:pPr/>
            <a:r>
              <a:t>Storage Layer:</a:t>
            </a:r>
          </a:p>
          <a:p>
            <a:pPr/>
            <a:r>
              <a:t>Weaviate: Vector store for semantic knowledge.</a:t>
            </a:r>
          </a:p>
          <a:p>
            <a:pPr/>
            <a:r>
              <a:t>SQLite: Relational store for users and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Retriever: Weaviate Vector DB using `all-MiniLM-L6-v2` embeddings.</a:t>
            </a:r>
          </a:p>
          <a:p>
            <a:pPr/>
            <a:r>
              <a:t>Reranker: Custom lightweight layer to boost specific sections (Pricing, Hours).</a:t>
            </a:r>
          </a:p>
          <a:p>
            <a:pPr/>
            <a:r>
              <a:t>Generator: GPT-4o-mini using strict context-injection prompts.</a:t>
            </a:r>
          </a:p>
          <a:p>
            <a:pPr/>
            <a:r>
              <a:t>Output: Accurate, non-hallucinated answers about parking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Static Knowledge (Weaviate):</a:t>
            </a:r>
          </a:p>
          <a:p>
            <a:pPr/>
            <a:r>
              <a:t>Rules, Pricing, Location, FAQ.</a:t>
            </a:r>
          </a:p>
          <a:p>
            <a:pPr/>
            <a:r>
              <a:t>Ingested from Markdown with overlap chunking.</a:t>
            </a:r>
          </a:p>
          <a:p>
            <a:pPr/>
            <a:r>
              <a:t>Dynamic Data (SQLite):</a:t>
            </a:r>
          </a:p>
          <a:p>
            <a:pPr/>
            <a:r>
              <a:t>Real-time Slot Counts (General, EV, Accessible).</a:t>
            </a:r>
          </a:p>
          <a:p>
            <a:pPr/>
            <a:r>
              <a:t>User Profiles (Name, Plate).</a:t>
            </a:r>
          </a:p>
          <a:p>
            <a:pPr/>
            <a:r>
              <a:t>Reservation History (Append-only).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Intent Priority:</a:t>
            </a:r>
          </a:p>
          <a:p>
            <a:pPr/>
            <a:r>
              <a:t>Active Booking (Highest Priority)</a:t>
            </a:r>
          </a:p>
          <a:p>
            <a:pPr/>
            <a:r>
              <a:t>Guardrails (Greeting/Security/Scope)</a:t>
            </a:r>
          </a:p>
          <a:p>
            <a:pPr/>
            <a:r>
              <a:t>Operational (Status/Availability)</a:t>
            </a:r>
          </a:p>
          <a:p>
            <a:pPr/>
            <a:r>
              <a:t>RAG (Informational)</a:t>
            </a:r>
          </a:p>
          <a:p>
            <a:pPr/>
            <a:r>
              <a:t>Outcome: Predictable and reliable user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Deterministic 6-Step Process:</a:t>
            </a:r>
          </a:p>
          <a:p>
            <a:pPr/>
            <a:r>
              <a:t>Name Collection (First/Last)</a:t>
            </a:r>
          </a:p>
          <a:p>
            <a:pPr/>
            <a:r>
              <a:t>Plate Identification</a:t>
            </a:r>
          </a:p>
          <a:p>
            <a:pPr/>
            <a:r>
              <a:t>Time Definition (Start/End)</a:t>
            </a:r>
          </a:p>
          <a:p>
            <a:pPr/>
            <a:r>
              <a:t>Summary Review</a:t>
            </a:r>
          </a:p>
          <a:p>
            <a:pPr/>
            <a:r>
              <a:t>User Confirmation</a:t>
            </a:r>
          </a:p>
          <a:p>
            <a:pPr/>
            <a:r>
              <a:t>SQLite Persistence</a:t>
            </a:r>
          </a:p>
          <a:p>
            <a:pPr/>
            <a:r>
              <a:t>Session Memory: Quick-reuse feature for repeat bookings.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Recall@3: 100% (The correct info is always found).</a:t>
            </a:r>
          </a:p>
          <a:p>
            <a:pPr>
              <a:defRPr b="1"/>
            </a:pPr>
            <a:r>
              <a:t>Recall@1: 67% (Room for ranking improvement).</a:t>
            </a:r>
          </a:p>
          <a:p>
            <a:pPr>
              <a:defRPr b="1"/>
            </a:pPr>
            <a:r>
              <a:t>Latency: ~310ms (Near-instant response).</a:t>
            </a:r>
          </a:p>
          <a:p>
            <a:pPr/>
            <a:r>
              <a:t>Interpretation: Highly reliable at finding information; reranking successfully compensates for semantic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RAG: "What happens if I park after 23:00?" -&gt; "Staff assistance required..."</a:t>
            </a:r>
          </a:p>
          <a:p>
            <a:pPr/>
            <a:r>
              <a:t>Operational: "Do you have EV spaces?" -&gt; "8/10 available."</a:t>
            </a:r>
          </a:p>
          <a:p>
            <a:pPr/>
            <a:r>
              <a:t>Booking: "Reserve a space for Anna Ivanova..." -&gt; "Success! Code: R-20260331-001."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Blocking Sensitive Data: Prevents mass-listing of reservations.</a:t>
            </a:r>
          </a:p>
          <a:p>
            <a:pPr/>
            <a:r>
              <a:t>Context Restriction: LLM cannot use external knowledge.</a:t>
            </a:r>
          </a:p>
          <a:p>
            <a:pPr/>
            <a:r>
              <a:t>Out-of-Scope: Politely rejects non-parking queries (e.g., weather).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Limitations: Term-based reranking is sensitive to specific keywords.</a:t>
            </a:r>
          </a:p>
          <a:p>
            <a:pPr/>
            <a:r>
              <a:t>Next Steps:</a:t>
            </a:r>
          </a:p>
          <a:p>
            <a:pPr/>
            <a:r>
              <a:t>Admin Dashboard for 'pending' approval.</a:t>
            </a:r>
          </a:p>
          <a:p>
            <a:pPr/>
            <a:r>
              <a:t>Integration with payment gateways.</a:t>
            </a:r>
          </a:p>
          <a:p>
            <a:pPr/>
            <a:r>
              <a:t>Multilingual support (Georgian language).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